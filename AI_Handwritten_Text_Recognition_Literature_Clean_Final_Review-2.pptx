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5"/>
    </p:embeddedFont>
    <p:embeddedFont>
      <p:font typeface="Aptos" charset="1" panose="020B00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theme" Target="theme/theme2.xml"/><Relationship Id="rId14" Type="http://schemas.openxmlformats.org/officeDocument/2006/relationships/notesSlide" Target="notesSlides/notesSlide1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notesSlide" Target="notesSlides/notesSlide2.xml"/><Relationship Id="rId18" Type="http://schemas.openxmlformats.org/officeDocument/2006/relationships/notesSlide" Target="notesSlides/notesSlide3.xml"/><Relationship Id="rId19" Type="http://schemas.openxmlformats.org/officeDocument/2006/relationships/notesSlide" Target="notesSlides/notesSlide4.xml"/><Relationship Id="rId20" Type="http://schemas.openxmlformats.org/officeDocument/2006/relationships/notesSlide" Target="notesSlides/notesSlide5.xml"/><Relationship Id="rId21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3.png"/><Relationship Id="rId5" Type="http://schemas.openxmlformats.org/officeDocument/2006/relationships/hyperlink" Target="https://www.mdpi.com/2313-433X/10/1/18/pdf" TargetMode="External"/><Relationship Id="rId6" Type="http://schemas.openxmlformats.org/officeDocument/2006/relationships/hyperlink" Target="https://link.springer.com/content/pdf/10.1007/s42979-023-02583-6.pdf" TargetMode="External"/><Relationship Id="rId7" Type="http://schemas.openxmlformats.org/officeDocument/2006/relationships/hyperlink" Target="https://ojs.aaai.org/index.php/AAAI/article/download/26538/26310" TargetMode="External"/><Relationship Id="rId8" Type="http://schemas.openxmlformats.org/officeDocument/2006/relationships/hyperlink" Target="https://ieeexplore.ieee.org/abstract/document/1151872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hyperlink" Target="https://chatgpt.com/backend-api/estuary/content?id=file_00000000645481f58db25960be6094c4&amp;ts=496929&amp;p=fs&amp;cid=1&amp;sig=b8fb067abd05092281404aa2562183d8997aef71471b6628a3c066c076fcdb54&amp;v=0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848" y="850392"/>
            <a:ext cx="4663440" cy="301752"/>
            <a:chOff x="0" y="0"/>
            <a:chExt cx="621792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402336"/>
            </a:xfrm>
            <a:custGeom>
              <a:avLst/>
              <a:gdLst/>
              <a:ahLst/>
              <a:cxnLst/>
              <a:rect r="r" b="b" t="t" l="l"/>
              <a:pathLst>
                <a:path h="402336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217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6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SECOND PROJECT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9848" y="1755648"/>
            <a:ext cx="9875520" cy="2606040"/>
            <a:chOff x="0" y="0"/>
            <a:chExt cx="13167360" cy="3474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7361" cy="3474720"/>
            </a:xfrm>
            <a:custGeom>
              <a:avLst/>
              <a:gdLst/>
              <a:ahLst/>
              <a:cxnLst/>
              <a:rect r="r" b="b" t="t" l="l"/>
              <a:pathLst>
                <a:path h="34747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167360" cy="3465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AI-Powered</a:t>
              </a:r>
            </a:p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Handwritten Text</a:t>
              </a:r>
            </a:p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Recognition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4712" y="4636008"/>
            <a:ext cx="6035040" cy="342900"/>
            <a:chOff x="0" y="0"/>
            <a:chExt cx="804672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6720" cy="457200"/>
            </a:xfrm>
            <a:custGeom>
              <a:avLst/>
              <a:gdLst/>
              <a:ahLst/>
              <a:cxnLst/>
              <a:rect r="r" b="b" t="t" l="l"/>
              <a:pathLst>
                <a:path h="457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04672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Engineering Project Presentation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578983"/>
            <a:ext cx="7147560" cy="2141220"/>
            <a:chOff x="0" y="0"/>
            <a:chExt cx="9530080" cy="285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30080" cy="2854960"/>
            </a:xfrm>
            <a:custGeom>
              <a:avLst/>
              <a:gdLst/>
              <a:ahLst/>
              <a:cxnLst/>
              <a:rect r="r" b="b" t="t" l="l"/>
              <a:pathLst>
                <a:path h="2854960" w="953008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9382760" y="0"/>
                  </a:lnTo>
                  <a:cubicBezTo>
                    <a:pt x="9464167" y="0"/>
                    <a:pt x="9530080" y="65913"/>
                    <a:pt x="9530080" y="147320"/>
                  </a:cubicBezTo>
                  <a:lnTo>
                    <a:pt x="9530080" y="2707640"/>
                  </a:lnTo>
                  <a:cubicBezTo>
                    <a:pt x="9530080" y="2789047"/>
                    <a:pt x="9464167" y="2854960"/>
                    <a:pt x="9382760" y="2854960"/>
                  </a:cubicBezTo>
                  <a:lnTo>
                    <a:pt x="147320" y="2854960"/>
                  </a:lnTo>
                  <a:cubicBezTo>
                    <a:pt x="65913" y="2854960"/>
                    <a:pt x="0" y="2789047"/>
                    <a:pt x="0" y="2707640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26464" y="5870448"/>
            <a:ext cx="2057400" cy="233172"/>
            <a:chOff x="0" y="0"/>
            <a:chExt cx="2743200" cy="310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310896"/>
            </a:xfrm>
            <a:custGeom>
              <a:avLst/>
              <a:gdLst/>
              <a:ahLst/>
              <a:cxnLst/>
              <a:rect r="r" b="b" t="t" l="l"/>
              <a:pathLst>
                <a:path h="3108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26" r="0" b="-121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743200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80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MEMBERS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44168" y="6131052"/>
            <a:ext cx="4457700" cy="1577340"/>
            <a:chOff x="0" y="0"/>
            <a:chExt cx="5943600" cy="2103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94360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M. Satya Charan Reddy    |    2420030166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R. Sai Charan    |    2420030140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S. Sai Rishik    |    2420030121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54980" y="6240780"/>
            <a:ext cx="3566160" cy="754380"/>
            <a:chOff x="0" y="0"/>
            <a:chExt cx="475488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7548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N. Sunandha Ma’am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4712" y="8298180"/>
            <a:ext cx="6583680" cy="480060"/>
            <a:chOff x="0" y="0"/>
            <a:chExt cx="877824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78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CSE  •  K L DEEMED TO BE UNIVERSITY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8030718" y="3192161"/>
            <a:ext cx="9691773" cy="3230594"/>
            <a:chOff x="0" y="0"/>
            <a:chExt cx="12922364" cy="43074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2377" cy="4307459"/>
            </a:xfrm>
            <a:custGeom>
              <a:avLst/>
              <a:gdLst/>
              <a:ahLst/>
              <a:cxnLst/>
              <a:rect r="r" b="b" t="t" l="l"/>
              <a:pathLst>
                <a:path h="4307459" w="12922377">
                  <a:moveTo>
                    <a:pt x="0" y="0"/>
                  </a:moveTo>
                  <a:lnTo>
                    <a:pt x="12922377" y="0"/>
                  </a:lnTo>
                  <a:lnTo>
                    <a:pt x="12922377" y="4307459"/>
                  </a:lnTo>
                  <a:lnTo>
                    <a:pt x="0" y="4307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4168" y="6172200"/>
            <a:ext cx="7680960" cy="1645920"/>
            <a:chOff x="0" y="0"/>
            <a:chExt cx="1024128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35608" y="6217920"/>
            <a:ext cx="434340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M. Satya Charan Reddy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R. Sai Charan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S. Sai Rishik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82312" y="6217920"/>
            <a:ext cx="166878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2420030166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2420030140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2420030121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46420" y="6217920"/>
            <a:ext cx="29718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N. Sunandha Ma’am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71600" y="6144768"/>
            <a:ext cx="7612380" cy="1673352"/>
            <a:chOff x="0" y="0"/>
            <a:chExt cx="10149840" cy="22311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49840" cy="2231136"/>
            </a:xfrm>
            <a:custGeom>
              <a:avLst/>
              <a:gdLst/>
              <a:ahLst/>
              <a:cxnLst/>
              <a:rect r="r" b="b" t="t" l="l"/>
              <a:pathLst>
                <a:path h="223113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231136"/>
                  </a:lnTo>
                  <a:lnTo>
                    <a:pt x="0" y="2231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63040" y="6227445"/>
            <a:ext cx="3863340" cy="13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M. Satya Charan Reddy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R. Sai Charan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S. Sai Rishik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35608" y="7293776"/>
            <a:ext cx="1920240" cy="262305"/>
            <a:chOff x="0" y="0"/>
            <a:chExt cx="2560320" cy="349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349740"/>
            </a:xfrm>
            <a:custGeom>
              <a:avLst/>
              <a:gdLst/>
              <a:ahLst/>
              <a:cxnLst/>
              <a:rect r="r" b="b" t="t" l="l"/>
              <a:pathLst>
                <a:path h="3497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196" r="0" b="-870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56032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80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GUIDE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468112" y="6227445"/>
            <a:ext cx="1531620" cy="13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2420030166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2420030140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2420030121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46904" y="7251192"/>
            <a:ext cx="1847088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N. Sunandha Ma’am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  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59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Handwriting remains difficult to digitize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84832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The challenge is reliable recognition across varied handwriting styles and image quality.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433828"/>
            <a:ext cx="7216140" cy="6352032"/>
            <a:chOff x="0" y="0"/>
            <a:chExt cx="9621520" cy="8469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1520" cy="8469376"/>
            </a:xfrm>
            <a:custGeom>
              <a:avLst/>
              <a:gdLst/>
              <a:ahLst/>
              <a:cxnLst/>
              <a:rect r="r" b="b" t="t" l="l"/>
              <a:pathLst>
                <a:path h="8469376" w="96215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474835" y="0"/>
                  </a:lnTo>
                  <a:cubicBezTo>
                    <a:pt x="9555861" y="0"/>
                    <a:pt x="9621520" y="65659"/>
                    <a:pt x="9621520" y="146685"/>
                  </a:cubicBezTo>
                  <a:lnTo>
                    <a:pt x="9621520" y="8322691"/>
                  </a:lnTo>
                  <a:cubicBezTo>
                    <a:pt x="9621520" y="8403717"/>
                    <a:pt x="9555861" y="8469376"/>
                    <a:pt x="9474835" y="8469376"/>
                  </a:cubicBezTo>
                  <a:lnTo>
                    <a:pt x="146685" y="8469376"/>
                  </a:lnTo>
                  <a:cubicBezTo>
                    <a:pt x="65659" y="8469376"/>
                    <a:pt x="0" y="8403717"/>
                    <a:pt x="0" y="83226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2852928"/>
            <a:ext cx="4389120" cy="384048"/>
            <a:chOff x="0" y="0"/>
            <a:chExt cx="585216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8521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Clearly Defined Problem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9032" y="3497580"/>
            <a:ext cx="6240780" cy="1261872"/>
            <a:chOff x="0" y="0"/>
            <a:chExt cx="8321040" cy="16824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210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6" r="0" b="-463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32104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Handwriting varies significantly across character shape, size, spacing, writing style and alignment. Manual transcription is time-consuming, repetitive and prone to errors.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9032" y="4965192"/>
            <a:ext cx="6240780" cy="987552"/>
            <a:chOff x="0" y="0"/>
            <a:chExt cx="8321040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210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34" r="0" b="-7313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32104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Existing OCR systems are generally stronger for printed text and may struggle with cursive, irregular or low-quality handwriting.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1412" y="6466332"/>
            <a:ext cx="6256020" cy="1633728"/>
            <a:chOff x="0" y="0"/>
            <a:chExt cx="8341360" cy="2178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41360" cy="2178304"/>
            </a:xfrm>
            <a:custGeom>
              <a:avLst/>
              <a:gdLst/>
              <a:ahLst/>
              <a:cxnLst/>
              <a:rect r="r" b="b" t="t" l="l"/>
              <a:pathLst>
                <a:path h="2178304" w="83413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8193659" y="0"/>
                  </a:lnTo>
                  <a:cubicBezTo>
                    <a:pt x="8275193" y="0"/>
                    <a:pt x="8341360" y="66167"/>
                    <a:pt x="8341360" y="147701"/>
                  </a:cubicBezTo>
                  <a:lnTo>
                    <a:pt x="8341360" y="2030603"/>
                  </a:lnTo>
                  <a:cubicBezTo>
                    <a:pt x="8341360" y="2112137"/>
                    <a:pt x="8275193" y="2178304"/>
                    <a:pt x="8193659" y="2178304"/>
                  </a:cubicBezTo>
                  <a:lnTo>
                    <a:pt x="147701" y="2178304"/>
                  </a:lnTo>
                  <a:cubicBezTo>
                    <a:pt x="66167" y="2178304"/>
                    <a:pt x="0" y="2112137"/>
                    <a:pt x="0" y="2030603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14500" y="6803136"/>
            <a:ext cx="1645920" cy="274320"/>
            <a:chOff x="0" y="0"/>
            <a:chExt cx="2194560" cy="365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365760"/>
            </a:xfrm>
            <a:custGeom>
              <a:avLst/>
              <a:gdLst/>
              <a:ahLst/>
              <a:cxnLst/>
              <a:rect r="r" b="b" t="t" l="l"/>
              <a:pathLst>
                <a:path h="365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1945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Motivation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" y="7200900"/>
            <a:ext cx="5417820" cy="548640"/>
            <a:chOff x="0" y="0"/>
            <a:chExt cx="72237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14" r="0" b="-14241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2237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Make handwritten information easier to digitize, edit, store, search and process.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35212" y="5588508"/>
            <a:ext cx="3649980" cy="1002792"/>
            <a:chOff x="0" y="0"/>
            <a:chExt cx="4866640" cy="1337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89720" y="5788152"/>
            <a:ext cx="3017520" cy="246888"/>
            <a:chOff x="0" y="0"/>
            <a:chExt cx="4023360" cy="3291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Digitization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89720" y="6131052"/>
            <a:ext cx="3017520" cy="219456"/>
            <a:chOff x="0" y="0"/>
            <a:chExt cx="4023360" cy="292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Convert paper records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81432" y="5588508"/>
            <a:ext cx="3649980" cy="1002792"/>
            <a:chOff x="0" y="0"/>
            <a:chExt cx="4866640" cy="1337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235940" y="5788152"/>
            <a:ext cx="3017520" cy="246888"/>
            <a:chOff x="0" y="0"/>
            <a:chExt cx="4023360" cy="329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Editable notes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35940" y="6131052"/>
            <a:ext cx="3017520" cy="219456"/>
            <a:chOff x="0" y="0"/>
            <a:chExt cx="4023360" cy="2926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Reduce retyping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35212" y="6932676"/>
            <a:ext cx="3649980" cy="1002792"/>
            <a:chOff x="0" y="0"/>
            <a:chExt cx="4866640" cy="1337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189720" y="7132320"/>
            <a:ext cx="3017520" cy="246888"/>
            <a:chOff x="0" y="0"/>
            <a:chExt cx="402336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Searchable data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89720" y="7475220"/>
            <a:ext cx="3017520" cy="219456"/>
            <a:chOff x="0" y="0"/>
            <a:chExt cx="4023360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Store and retrieve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81432" y="6932676"/>
            <a:ext cx="3649980" cy="1002792"/>
            <a:chOff x="0" y="0"/>
            <a:chExt cx="4866640" cy="13370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35940" y="7132320"/>
            <a:ext cx="3017520" cy="246888"/>
            <a:chOff x="0" y="0"/>
            <a:chExt cx="4023360" cy="3291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Automated entry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35940" y="7475220"/>
            <a:ext cx="3017520" cy="219456"/>
            <a:chOff x="0" y="0"/>
            <a:chExt cx="4023360" cy="2926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Lower manual effort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542782" y="2169414"/>
            <a:ext cx="8757666" cy="2919222"/>
            <a:chOff x="0" y="0"/>
            <a:chExt cx="11676888" cy="38922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76888" cy="3892296"/>
            </a:xfrm>
            <a:custGeom>
              <a:avLst/>
              <a:gdLst/>
              <a:ahLst/>
              <a:cxnLst/>
              <a:rect r="r" b="b" t="t" l="l"/>
              <a:pathLst>
                <a:path h="3892296" w="11676888">
                  <a:moveTo>
                    <a:pt x="0" y="0"/>
                  </a:moveTo>
                  <a:lnTo>
                    <a:pt x="11676888" y="0"/>
                  </a:lnTo>
                  <a:lnTo>
                    <a:pt x="11676888" y="3892296"/>
                  </a:lnTo>
                  <a:lnTo>
                    <a:pt x="0" y="3892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59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Four measurable objectives define the build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The project moves from image preparation to recognition, evaluation and usable digital output.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763012"/>
            <a:ext cx="3828288" cy="3471672"/>
            <a:chOff x="0" y="0"/>
            <a:chExt cx="5104384" cy="4628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9932" y="2763012"/>
            <a:ext cx="3828288" cy="97536"/>
            <a:chOff x="0" y="0"/>
            <a:chExt cx="5104384" cy="130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9304" y="3355343"/>
            <a:ext cx="576072" cy="246888"/>
            <a:chOff x="0" y="0"/>
            <a:chExt cx="768096" cy="329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73C7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9304" y="3711959"/>
            <a:ext cx="3209544" cy="411480"/>
            <a:chOff x="0" y="0"/>
            <a:chExt cx="4279392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Image Processing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1684" y="4239263"/>
            <a:ext cx="646176" cy="49530"/>
            <a:chOff x="0" y="0"/>
            <a:chExt cx="861568" cy="66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9304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Prepare handwritten images using resizing, normalization and noise reduction.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04460" y="2763012"/>
            <a:ext cx="3828288" cy="3471672"/>
            <a:chOff x="0" y="0"/>
            <a:chExt cx="5104384" cy="4628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04460" y="2763012"/>
            <a:ext cx="3828288" cy="97536"/>
            <a:chOff x="0" y="0"/>
            <a:chExt cx="5104384" cy="130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513832" y="3355343"/>
            <a:ext cx="576072" cy="246888"/>
            <a:chOff x="0" y="0"/>
            <a:chExt cx="768096" cy="329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13832" y="3711959"/>
            <a:ext cx="3209544" cy="411480"/>
            <a:chOff x="0" y="0"/>
            <a:chExt cx="4279392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Text Recognition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06212" y="4239263"/>
            <a:ext cx="646176" cy="49530"/>
            <a:chOff x="0" y="0"/>
            <a:chExt cx="861568" cy="66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513832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Develop or integrate an AI model for handwritten character, word or line recognition.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28988" y="2763012"/>
            <a:ext cx="3828288" cy="3471672"/>
            <a:chOff x="0" y="0"/>
            <a:chExt cx="5104384" cy="4628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428988" y="2763012"/>
            <a:ext cx="3828288" cy="97536"/>
            <a:chOff x="0" y="0"/>
            <a:chExt cx="5104384" cy="1300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738360" y="3355343"/>
            <a:ext cx="576072" cy="246888"/>
            <a:chOff x="0" y="0"/>
            <a:chExt cx="768096" cy="3291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768096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38360" y="3711959"/>
            <a:ext cx="3209544" cy="411480"/>
            <a:chOff x="0" y="0"/>
            <a:chExt cx="4279392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Evaluation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30740" y="4239263"/>
            <a:ext cx="646176" cy="49530"/>
            <a:chOff x="0" y="0"/>
            <a:chExt cx="861568" cy="66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738360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Evaluate CER, WER and recognition accuracy on a representative test set.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653516" y="2763012"/>
            <a:ext cx="3828288" cy="3471672"/>
            <a:chOff x="0" y="0"/>
            <a:chExt cx="5104384" cy="4628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53516" y="2763012"/>
            <a:ext cx="3828288" cy="97536"/>
            <a:chOff x="0" y="0"/>
            <a:chExt cx="5104384" cy="1300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4C9B8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962888" y="3355343"/>
            <a:ext cx="576072" cy="246888"/>
            <a:chOff x="0" y="0"/>
            <a:chExt cx="768096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62888" y="3711959"/>
            <a:ext cx="3209544" cy="411480"/>
            <a:chOff x="0" y="0"/>
            <a:chExt cx="4279392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Text Generation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955268" y="4239263"/>
            <a:ext cx="646176" cy="49530"/>
            <a:chOff x="0" y="0"/>
            <a:chExt cx="861568" cy="66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4C9B83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3962888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Generate clear, editable and searchable digital text.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28700" y="6940296"/>
            <a:ext cx="3017520" cy="246888"/>
            <a:chOff x="0" y="0"/>
            <a:chExt cx="4023360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0233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7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EXPECTED OUTCOMES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9175" y="7451979"/>
            <a:ext cx="677418" cy="677418"/>
            <a:chOff x="0" y="0"/>
            <a:chExt cx="903224" cy="9032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69848" y="7543800"/>
            <a:ext cx="576072" cy="356616"/>
            <a:chOff x="0" y="0"/>
            <a:chExt cx="768096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879092" y="7584948"/>
            <a:ext cx="3840480" cy="274320"/>
            <a:chOff x="0" y="0"/>
            <a:chExt cx="5120640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Functional prototype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05575" y="7451979"/>
            <a:ext cx="677418" cy="677418"/>
            <a:chOff x="0" y="0"/>
            <a:chExt cx="903224" cy="9032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556248" y="7543800"/>
            <a:ext cx="576072" cy="356616"/>
            <a:chOff x="0" y="0"/>
            <a:chExt cx="768096" cy="4754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65492" y="7584948"/>
            <a:ext cx="3840480" cy="274320"/>
            <a:chOff x="0" y="0"/>
            <a:chExt cx="5120640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Automatic conversion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991975" y="7451979"/>
            <a:ext cx="677418" cy="677418"/>
            <a:chOff x="0" y="0"/>
            <a:chExt cx="903224" cy="903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042648" y="7543800"/>
            <a:ext cx="576072" cy="356616"/>
            <a:chOff x="0" y="0"/>
            <a:chExt cx="768096" cy="4754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851892" y="7584948"/>
            <a:ext cx="3840480" cy="274320"/>
            <a:chOff x="0" y="0"/>
            <a:chExt cx="5120640" cy="3657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Measurable accuracy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19175" y="8302371"/>
            <a:ext cx="677418" cy="677418"/>
            <a:chOff x="0" y="0"/>
            <a:chExt cx="903224" cy="9032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69848" y="8394192"/>
            <a:ext cx="576072" cy="356616"/>
            <a:chOff x="0" y="0"/>
            <a:chExt cx="768096" cy="4754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879092" y="8435340"/>
            <a:ext cx="3840480" cy="274320"/>
            <a:chOff x="0" y="0"/>
            <a:chExt cx="5120640" cy="3657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Reduced transcription effort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505575" y="8302371"/>
            <a:ext cx="677418" cy="677418"/>
            <a:chOff x="0" y="0"/>
            <a:chExt cx="903224" cy="9032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556248" y="8394192"/>
            <a:ext cx="576072" cy="356616"/>
            <a:chOff x="0" y="0"/>
            <a:chExt cx="768096" cy="4754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65492" y="8435340"/>
            <a:ext cx="3840480" cy="274320"/>
            <a:chOff x="0" y="0"/>
            <a:chExt cx="5120640" cy="3657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User-friendly output</a:t>
              </a:r>
            </a:p>
          </p:txBody>
        </p:sp>
      </p:grpSp>
      <p:sp>
        <p:nvSpPr>
          <p:cNvPr name="AutoShape 106" id="106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7" id="107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90" id="90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97" name="TextBox 96"/>
          <p:cNvSpPr txBox="1"/>
          <p:nvPr/>
        </p:nvSpPr>
        <p:spPr>
          <a:xfrm>
            <a:off x="868680" y="420624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18445B"/>
                </a:solidFill>
                <a:latin typeface="Aptos"/>
              </a:rPr>
              <a:t>03   LITERATURE SURVEY / EXISTING SYSTEM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" y="832104"/>
            <a:ext cx="1554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2D37"/>
                </a:solidFill>
                <a:latin typeface="Aptos"/>
              </a:rPr>
              <a:t>Existing HTR approaches evolve from OCR to Transformer-based recognition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" y="1271016"/>
            <a:ext cx="15544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56770"/>
                </a:solidFill>
                <a:latin typeface="Aptos"/>
              </a:rPr>
              <a:t>Transformer-based HTR is established; our proposed extension adds Qwen 2.5 via Ollama for context-aware refinement.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8680" y="1874519"/>
            <a:ext cx="2971800" cy="502920"/>
          </a:xfrm>
          <a:prstGeom prst="roundRect">
            <a:avLst/>
          </a:prstGeom>
          <a:solidFill>
            <a:srgbClr val="18445B"/>
          </a:solidFill>
          <a:ln>
            <a:solidFill>
              <a:srgbClr val="1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8407" y="1911095"/>
            <a:ext cx="275234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840480" y="1874519"/>
            <a:ext cx="3246120" cy="502920"/>
          </a:xfrm>
          <a:prstGeom prst="roundRect">
            <a:avLst/>
          </a:prstGeom>
          <a:solidFill>
            <a:srgbClr val="18445B"/>
          </a:solidFill>
          <a:ln>
            <a:solidFill>
              <a:srgbClr val="1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50208" y="1911095"/>
            <a:ext cx="302666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TECHNIQUE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086600" y="1874519"/>
            <a:ext cx="3246120" cy="502920"/>
          </a:xfrm>
          <a:prstGeom prst="roundRect">
            <a:avLst/>
          </a:prstGeom>
          <a:solidFill>
            <a:srgbClr val="18445B"/>
          </a:solidFill>
          <a:ln>
            <a:solidFill>
              <a:srgbClr val="1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96328" y="1911095"/>
            <a:ext cx="302666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ADVANTAGES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332720" y="1874519"/>
            <a:ext cx="3246120" cy="502920"/>
          </a:xfrm>
          <a:prstGeom prst="roundRect">
            <a:avLst/>
          </a:prstGeom>
          <a:solidFill>
            <a:srgbClr val="18445B"/>
          </a:solidFill>
          <a:ln>
            <a:solidFill>
              <a:srgbClr val="1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42448" y="1911095"/>
            <a:ext cx="302666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LIMITATIONS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3578840" y="1874519"/>
            <a:ext cx="3749039" cy="502920"/>
          </a:xfrm>
          <a:prstGeom prst="roundRect">
            <a:avLst/>
          </a:prstGeom>
          <a:solidFill>
            <a:srgbClr val="18445B"/>
          </a:solidFill>
          <a:ln>
            <a:solidFill>
              <a:srgbClr val="18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688568" y="1911095"/>
            <a:ext cx="352958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RESEARCH PAPER / LINK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2468879"/>
            <a:ext cx="16459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8680" y="2468879"/>
            <a:ext cx="64008" cy="1005840"/>
          </a:xfrm>
          <a:prstGeom prst="rect">
            <a:avLst/>
          </a:prstGeom>
          <a:solidFill>
            <a:srgbClr val="64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8407" y="2542032"/>
            <a:ext cx="275234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8445B"/>
                </a:solidFill>
                <a:latin typeface="Aptos"/>
              </a:rPr>
              <a:t>Traditional OCR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50208" y="2542032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Image processing +
handcrafted features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96328" y="2542032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Simple; lightweight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42448" y="2542032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Weak to handwriting
variation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670280" y="2560320"/>
            <a:ext cx="3566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068B4"/>
                </a:solidFill>
                <a:latin typeface="Aptos"/>
              </a:rPr>
              <a:t>HTR survey • AlKendi et al.
</a:t>
            </a:r>
            <a:r>
              <a:rPr sz="800">
                <a:solidFill>
                  <a:srgbClr val="0068B4"/>
                </a:solidFill>
                <a:latin typeface="Aptos"/>
                <a:hlinkClick r:id="rId5"/>
              </a:rPr>
              <a:t>2024 • PDF ↗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8680" y="3547872"/>
            <a:ext cx="16459200" cy="1005840"/>
          </a:xfrm>
          <a:prstGeom prst="roundRect">
            <a:avLst/>
          </a:prstGeom>
          <a:solidFill>
            <a:srgbClr val="E8F3F7"/>
          </a:solidFill>
          <a:ln>
            <a:solidFill>
              <a:srgbClr val="CD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8680" y="3547872"/>
            <a:ext cx="64008" cy="1005840"/>
          </a:xfrm>
          <a:prstGeom prst="rect">
            <a:avLst/>
          </a:prstGeom>
          <a:solidFill>
            <a:srgbClr val="41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78407" y="3621024"/>
            <a:ext cx="275234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8445B"/>
                </a:solidFill>
                <a:latin typeface="Aptos"/>
              </a:rPr>
              <a:t>CNN-Based Recognition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50208" y="3621024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CNN visual feature
extraction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96328" y="3621024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Effective for characters
and image patterns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42448" y="3621024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Limited sequence context;
needs prepared input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670280" y="3639312"/>
            <a:ext cx="3566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068B4"/>
                </a:solidFill>
                <a:latin typeface="Aptos"/>
              </a:rPr>
              <a:t>HTR survey • AlKendi et al.
</a:t>
            </a:r>
            <a:r>
              <a:rPr sz="800">
                <a:solidFill>
                  <a:srgbClr val="0068B4"/>
                </a:solidFill>
                <a:latin typeface="Aptos"/>
                <a:hlinkClick r:id="rId5"/>
              </a:rPr>
              <a:t>2024 • PDF ↗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8680" y="4626864"/>
            <a:ext cx="16459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8680" y="4626864"/>
            <a:ext cx="64008" cy="1005840"/>
          </a:xfrm>
          <a:prstGeom prst="rect">
            <a:avLst/>
          </a:prstGeom>
          <a:solidFill>
            <a:srgbClr val="5C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8407" y="4700016"/>
            <a:ext cx="275234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8445B"/>
                </a:solidFill>
                <a:latin typeface="Aptos"/>
              </a:rPr>
              <a:t>CNN + LSTM + CTC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50208" y="4700016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CNN + LSTM sequence
model + CTC alignment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96328" y="4700016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Variable-length sequences;
words / lines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442448" y="4700016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Higher compute;
complex training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670280" y="4718304"/>
            <a:ext cx="3566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068B4"/>
                </a:solidFill>
                <a:latin typeface="Aptos"/>
              </a:rPr>
              <a:t>HTR review • de Sousa Neto et al.
</a:t>
            </a:r>
            <a:r>
              <a:rPr sz="800">
                <a:solidFill>
                  <a:srgbClr val="0068B4"/>
                </a:solidFill>
                <a:latin typeface="Aptos"/>
                <a:hlinkClick r:id="rId6"/>
              </a:rPr>
              <a:t>2024 • PDF ↗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680" y="5705856"/>
            <a:ext cx="16459200" cy="1005840"/>
          </a:xfrm>
          <a:prstGeom prst="roundRect">
            <a:avLst/>
          </a:prstGeom>
          <a:solidFill>
            <a:srgbClr val="E8F3F7"/>
          </a:solidFill>
          <a:ln>
            <a:solidFill>
              <a:srgbClr val="CD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68680" y="5705856"/>
            <a:ext cx="64008" cy="1005840"/>
          </a:xfrm>
          <a:prstGeom prst="rect">
            <a:avLst/>
          </a:prstGeom>
          <a:solidFill>
            <a:srgbClr val="E6A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78407" y="5779008"/>
            <a:ext cx="275234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8445B"/>
                </a:solidFill>
                <a:latin typeface="Aptos"/>
              </a:rPr>
              <a:t>Transformer-Based HTR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50208" y="5779008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Vision/text Transformer
architecture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96328" y="5779008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Long-range and
contextual dependencies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442448" y="5779008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Higher data/compute;
established approach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670280" y="5797296"/>
            <a:ext cx="3566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068B4"/>
                </a:solidFill>
                <a:latin typeface="Aptos"/>
              </a:rPr>
              <a:t>TrOCR • Li et al.
</a:t>
            </a:r>
            <a:r>
              <a:rPr sz="800">
                <a:solidFill>
                  <a:srgbClr val="0068B4"/>
                </a:solidFill>
                <a:latin typeface="Aptos"/>
                <a:hlinkClick r:id="rId7"/>
              </a:rPr>
              <a:t>2023 • PDF ↗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8680" y="6784848"/>
            <a:ext cx="16459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68680" y="6784848"/>
            <a:ext cx="64008" cy="1005840"/>
          </a:xfrm>
          <a:prstGeom prst="rect">
            <a:avLst/>
          </a:prstGeom>
          <a:solidFill>
            <a:srgbClr val="33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8407" y="6858000"/>
            <a:ext cx="275234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18445B"/>
                </a:solidFill>
                <a:latin typeface="Aptos"/>
              </a:rPr>
              <a:t>Transformer HTR + Qwen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950208" y="6858000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HTR Transformer → Qwen 2.5
via Ollama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96328" y="6858000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Context-aware refinement;
local LLM deployment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42448" y="6858000"/>
            <a:ext cx="302666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1C2D37"/>
                </a:solidFill>
                <a:latin typeface="Aptos"/>
              </a:rPr>
              <a:t>Needs validation to avoid
over-correction / hallucination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670280" y="6876288"/>
            <a:ext cx="3566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068B4"/>
                </a:solidFill>
                <a:latin typeface="Aptos"/>
              </a:rPr>
              <a:t>TrOCR + LLM • Al Ali et al.
</a:t>
            </a:r>
            <a:r>
              <a:rPr sz="800">
                <a:solidFill>
                  <a:srgbClr val="0068B4"/>
                </a:solidFill>
                <a:latin typeface="Aptos"/>
                <a:hlinkClick r:id="rId8"/>
              </a:rPr>
              <a:t>2026 • PDF/IEEE ↗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8887968"/>
            <a:ext cx="16459200" cy="658368"/>
          </a:xfrm>
          <a:prstGeom prst="roundRect">
            <a:avLst/>
          </a:prstGeom>
          <a:solidFill>
            <a:srgbClr val="EDF8F3"/>
          </a:solidFill>
          <a:ln>
            <a:solidFill>
              <a:srgbClr val="82B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78992" y="8970264"/>
            <a:ext cx="16047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235E44"/>
                </a:solidFill>
                <a:latin typeface="Aptos"/>
              </a:rPr>
              <a:t>RESEARCH GAP / PROPOSED DIRECTION: Existing work demonstrates Transformer HTR and LLM post-processing separately/in combination. Our proposed pipeline specifically evaluates HTR → Qwen 2.5 (Ollama) → context-aware refinement.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96112" y="9674352"/>
            <a:ext cx="1417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40" b="0">
                <a:solidFill>
                  <a:srgbClr val="556770"/>
                </a:solidFill>
                <a:latin typeface="Aptos"/>
              </a:rPr>
              <a:t>Paper links are provided for direct reference; reported performance should be compared on the same dataset before drawing conclusions.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 LITERATURE SURVEY / EXISTING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Research Gap is practical: Robustness, Cost and Usability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A practical HTR system should remain robust on imperfect handwriting while keeping deployment requirements manageable.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625852"/>
            <a:ext cx="7216140" cy="6489192"/>
            <a:chOff x="0" y="0"/>
            <a:chExt cx="9621520" cy="8652256"/>
          </a:xfrm>
        </p:grpSpPr>
        <p:sp>
          <p:nvSpPr>
            <p:cNvPr name="Freeform 12" id="12">
              <a:hlinkClick r:id="rId4" tooltip="https://chatgpt.com/backend-api/estuary/content?id=file_00000000645481f58db25960be6094c4&amp;ts=496929&amp;p=fs&amp;cid=1&amp;sig=b8fb067abd05092281404aa2562183d8997aef71471b6628a3c066c076fcdb54&amp;v=0"/>
            </p:cNvPr>
            <p:cNvSpPr/>
            <p:nvPr/>
          </p:nvSpPr>
          <p:spPr>
            <a:xfrm flipH="false" flipV="false" rot="0">
              <a:off x="0" y="0"/>
              <a:ext cx="9621520" cy="8652256"/>
            </a:xfrm>
            <a:custGeom>
              <a:avLst/>
              <a:gdLst/>
              <a:ahLst/>
              <a:cxnLst/>
              <a:rect r="r" b="b" t="t" l="l"/>
              <a:pathLst>
                <a:path h="8652256" w="96215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474835" y="0"/>
                  </a:lnTo>
                  <a:cubicBezTo>
                    <a:pt x="9555861" y="0"/>
                    <a:pt x="9621520" y="65659"/>
                    <a:pt x="9621520" y="146685"/>
                  </a:cubicBezTo>
                  <a:lnTo>
                    <a:pt x="9621520" y="8505571"/>
                  </a:lnTo>
                  <a:cubicBezTo>
                    <a:pt x="9621520" y="8586597"/>
                    <a:pt x="9555861" y="8652256"/>
                    <a:pt x="9474835" y="8652256"/>
                  </a:cubicBezTo>
                  <a:lnTo>
                    <a:pt x="146685" y="8652256"/>
                  </a:lnTo>
                  <a:cubicBezTo>
                    <a:pt x="65659" y="8652256"/>
                    <a:pt x="0" y="8586597"/>
                    <a:pt x="0" y="850557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3044952"/>
            <a:ext cx="5074920" cy="246888"/>
            <a:chOff x="0" y="0"/>
            <a:chExt cx="6766560" cy="32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329184"/>
            </a:xfrm>
            <a:custGeom>
              <a:avLst/>
              <a:gdLst/>
              <a:ahLst/>
              <a:cxnLst/>
              <a:rect r="r" b="b" t="t" l="l"/>
              <a:pathLst>
                <a:path h="32918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7665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7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LIMITATIONS / RESEARCH GAP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9032" y="3634740"/>
            <a:ext cx="548640" cy="246888"/>
            <a:chOff x="0" y="0"/>
            <a:chExt cx="731520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61388" y="3586734"/>
            <a:ext cx="5280660" cy="342900"/>
            <a:chOff x="0" y="0"/>
            <a:chExt cx="704088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High variation in handwriting styles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6480">
            <a:off x="1393307" y="4096322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99032" y="4485132"/>
            <a:ext cx="548640" cy="246888"/>
            <a:chOff x="0" y="0"/>
            <a:chExt cx="73152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61388" y="4389120"/>
            <a:ext cx="5280660" cy="342900"/>
            <a:chOff x="0" y="0"/>
            <a:chExt cx="704088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Cursive and irregular text is difficult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480">
            <a:off x="1393307" y="4946714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399032" y="5335524"/>
            <a:ext cx="548640" cy="246888"/>
            <a:chOff x="0" y="0"/>
            <a:chExt cx="73152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61388" y="5323926"/>
            <a:ext cx="5280660" cy="342900"/>
            <a:chOff x="0" y="0"/>
            <a:chExt cx="704088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Noisy or low-quality images reduce reliability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40706" y="5793295"/>
            <a:ext cx="6087617" cy="11475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399032" y="6185916"/>
            <a:ext cx="548640" cy="246888"/>
            <a:chOff x="0" y="0"/>
            <a:chExt cx="731520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61388" y="6174318"/>
            <a:ext cx="5280660" cy="342900"/>
            <a:chOff x="0" y="0"/>
            <a:chExt cx="704088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Advanced models can be computationally heavy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480">
            <a:off x="1393307" y="6647497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947672" y="6765513"/>
            <a:ext cx="5280660" cy="640914"/>
            <a:chOff x="0" y="0"/>
            <a:chExt cx="7040880" cy="8545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40880" cy="854552"/>
            </a:xfrm>
            <a:custGeom>
              <a:avLst/>
              <a:gdLst/>
              <a:ahLst/>
              <a:cxnLst/>
              <a:rect r="r" b="b" t="t" l="l"/>
              <a:pathLst>
                <a:path h="854552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854552"/>
                  </a:lnTo>
                  <a:lnTo>
                    <a:pt x="0" y="854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91" r="0" b="-872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040880" cy="85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Practical deployment needs user-friendly workflows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480">
            <a:off x="1393307" y="7497890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391412" y="8057388"/>
            <a:ext cx="6118860" cy="673608"/>
            <a:chOff x="0" y="0"/>
            <a:chExt cx="8158480" cy="8981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58480" cy="898144"/>
            </a:xfrm>
            <a:custGeom>
              <a:avLst/>
              <a:gdLst/>
              <a:ahLst/>
              <a:cxnLst/>
              <a:rect r="r" b="b" t="t" l="l"/>
              <a:pathLst>
                <a:path h="898144" w="815848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8008747" y="0"/>
                  </a:lnTo>
                  <a:cubicBezTo>
                    <a:pt x="8091424" y="0"/>
                    <a:pt x="8158480" y="67056"/>
                    <a:pt x="8158480" y="149733"/>
                  </a:cubicBezTo>
                  <a:lnTo>
                    <a:pt x="8158480" y="748411"/>
                  </a:lnTo>
                  <a:cubicBezTo>
                    <a:pt x="8158480" y="831088"/>
                    <a:pt x="8091424" y="898144"/>
                    <a:pt x="8008747" y="898144"/>
                  </a:cubicBezTo>
                  <a:lnTo>
                    <a:pt x="149733" y="898144"/>
                  </a:lnTo>
                  <a:cubicBezTo>
                    <a:pt x="67056" y="898144"/>
                    <a:pt x="0" y="831088"/>
                    <a:pt x="0" y="748411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18488" y="8284464"/>
            <a:ext cx="5623560" cy="246888"/>
            <a:chOff x="0" y="0"/>
            <a:chExt cx="7498080" cy="3291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98080" cy="329184"/>
            </a:xfrm>
            <a:custGeom>
              <a:avLst/>
              <a:gdLst/>
              <a:ahLst/>
              <a:cxnLst/>
              <a:rect r="r" b="b" t="t" l="l"/>
              <a:pathLst>
                <a:path h="32918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4980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balance: accuracy  •  robustness  •  efficiency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399032" y="6736249"/>
            <a:ext cx="548640" cy="855726"/>
            <a:chOff x="0" y="0"/>
            <a:chExt cx="731520" cy="11409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1140968"/>
            </a:xfrm>
            <a:custGeom>
              <a:avLst/>
              <a:gdLst/>
              <a:ahLst/>
              <a:cxnLst/>
              <a:rect r="r" b="b" t="t" l="l"/>
              <a:pathLst>
                <a:path h="114096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40968"/>
                  </a:lnTo>
                  <a:lnTo>
                    <a:pt x="0" y="1140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7114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31520" cy="1140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8605481" y="2595479"/>
            <a:ext cx="9105802" cy="6619833"/>
          </a:xfrm>
          <a:custGeom>
            <a:avLst/>
            <a:gdLst/>
            <a:ahLst/>
            <a:cxnLst/>
            <a:rect r="r" b="b" t="t" l="l"/>
            <a:pathLst>
              <a:path h="6619833" w="9105802">
                <a:moveTo>
                  <a:pt x="0" y="0"/>
                </a:moveTo>
                <a:lnTo>
                  <a:pt x="9105802" y="0"/>
                </a:lnTo>
                <a:lnTo>
                  <a:pt x="9105802" y="6619833"/>
                </a:lnTo>
                <a:lnTo>
                  <a:pt x="0" y="661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  PROPOSED SYSTEM RESPONSE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system: an end-to-end HTR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The workflow combines preprocessing, AI recognition and evaluation to produce editable digital text.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1080" y="2804160"/>
            <a:ext cx="3101340" cy="1866900"/>
            <a:chOff x="0" y="0"/>
            <a:chExt cx="4135120" cy="248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1080" y="2804160"/>
            <a:ext cx="111252" cy="1866900"/>
            <a:chOff x="0" y="0"/>
            <a:chExt cx="148336" cy="248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588" y="3031236"/>
            <a:ext cx="2647188" cy="411480"/>
            <a:chOff x="0" y="0"/>
            <a:chExt cx="3529584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Input Image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5588" y="3525012"/>
            <a:ext cx="2674620" cy="946404"/>
            <a:chOff x="0" y="0"/>
            <a:chExt cx="3566160" cy="12618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Handwritten document or note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79595" y="3529203"/>
            <a:ext cx="773430" cy="403098"/>
            <a:chOff x="0" y="0"/>
            <a:chExt cx="1031240" cy="537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286756" y="2804160"/>
            <a:ext cx="3101340" cy="1866900"/>
            <a:chOff x="0" y="0"/>
            <a:chExt cx="4135120" cy="248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286756" y="2804160"/>
            <a:ext cx="111252" cy="1866900"/>
            <a:chOff x="0" y="0"/>
            <a:chExt cx="148336" cy="248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541264" y="3031236"/>
            <a:ext cx="2647188" cy="411480"/>
            <a:chOff x="0" y="0"/>
            <a:chExt cx="352958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Preprocessing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41264" y="3525012"/>
            <a:ext cx="2674620" cy="946404"/>
            <a:chOff x="0" y="0"/>
            <a:chExt cx="3566160" cy="12618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Resize, normalize, reduce noise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45271" y="3529203"/>
            <a:ext cx="773430" cy="403098"/>
            <a:chOff x="0" y="0"/>
            <a:chExt cx="1031240" cy="537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2432" y="2804160"/>
            <a:ext cx="3101340" cy="1866900"/>
            <a:chOff x="0" y="0"/>
            <a:chExt cx="4135120" cy="248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52432" y="2804160"/>
            <a:ext cx="111252" cy="1866900"/>
            <a:chOff x="0" y="0"/>
            <a:chExt cx="148336" cy="248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06940" y="3031236"/>
            <a:ext cx="2647188" cy="411480"/>
            <a:chOff x="0" y="0"/>
            <a:chExt cx="3529584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Recognition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3525012"/>
            <a:ext cx="2674620" cy="946404"/>
            <a:chOff x="0" y="0"/>
            <a:chExt cx="3566160" cy="1261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Characters, words or sequences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10947" y="3529203"/>
            <a:ext cx="773430" cy="403098"/>
            <a:chOff x="0" y="0"/>
            <a:chExt cx="1031240" cy="537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818108" y="2804160"/>
            <a:ext cx="3101340" cy="1866900"/>
            <a:chOff x="0" y="0"/>
            <a:chExt cx="4135120" cy="248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818108" y="2804160"/>
            <a:ext cx="111252" cy="1866900"/>
            <a:chOff x="0" y="0"/>
            <a:chExt cx="148336" cy="248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72616" y="3031236"/>
            <a:ext cx="2647188" cy="411480"/>
            <a:chOff x="0" y="0"/>
            <a:chExt cx="3529584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Output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72616" y="3525012"/>
            <a:ext cx="2674620" cy="946404"/>
            <a:chOff x="0" y="0"/>
            <a:chExt cx="3566160" cy="12618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Editable and searchable text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8058" y="5413279"/>
            <a:ext cx="3600650" cy="380693"/>
            <a:chOff x="0" y="0"/>
            <a:chExt cx="4800867" cy="5075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00867" cy="507590"/>
            </a:xfrm>
            <a:custGeom>
              <a:avLst/>
              <a:gdLst/>
              <a:ahLst/>
              <a:cxnLst/>
              <a:rect r="r" b="b" t="t" l="l"/>
              <a:pathLst>
                <a:path h="507590" w="4800867">
                  <a:moveTo>
                    <a:pt x="0" y="0"/>
                  </a:moveTo>
                  <a:lnTo>
                    <a:pt x="4800867" y="0"/>
                  </a:lnTo>
                  <a:lnTo>
                    <a:pt x="4800867" y="507590"/>
                  </a:lnTo>
                  <a:lnTo>
                    <a:pt x="0" y="507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019" r="16195" b="-868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800867" cy="507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 spc="223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RESPONSE 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47672" y="6240780"/>
            <a:ext cx="6309360" cy="274320"/>
            <a:chOff x="0" y="0"/>
            <a:chExt cx="8412480" cy="365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841248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Limited handwriting robustness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47672" y="6844284"/>
            <a:ext cx="6309360" cy="274320"/>
            <a:chOff x="0" y="0"/>
            <a:chExt cx="841248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841248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Manual or inconsistent preprocessing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47672" y="7447788"/>
            <a:ext cx="6309360" cy="274320"/>
            <a:chOff x="0" y="0"/>
            <a:chExt cx="8412480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84124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May require high computational resources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47672" y="8051292"/>
            <a:ext cx="6309360" cy="274320"/>
            <a:chOff x="0" y="0"/>
            <a:chExt cx="8412480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4124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Deployment can be resource-intensive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22408" y="6240780"/>
            <a:ext cx="6720840" cy="274320"/>
            <a:chOff x="0" y="0"/>
            <a:chExt cx="8961120" cy="3657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89611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AI-based handwriting recognition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122408" y="6844284"/>
            <a:ext cx="6720840" cy="274320"/>
            <a:chOff x="0" y="0"/>
            <a:chExt cx="8961120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896112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Image preprocessing pipeline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122408" y="7447788"/>
            <a:ext cx="6720840" cy="274320"/>
            <a:chOff x="0" y="0"/>
            <a:chExt cx="8961120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89611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CER / WER / accuracy evaluation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22408" y="8051292"/>
            <a:ext cx="6720840" cy="274320"/>
            <a:chOff x="0" y="0"/>
            <a:chExt cx="8961120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9525"/>
              <a:ext cx="896112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Editable digital output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62228" y="8798052"/>
            <a:ext cx="15870936" cy="536448"/>
            <a:chOff x="0" y="0"/>
            <a:chExt cx="21161248" cy="7152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16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21161248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21010626" y="0"/>
                  </a:lnTo>
                  <a:cubicBezTo>
                    <a:pt x="21093812" y="0"/>
                    <a:pt x="21161248" y="67437"/>
                    <a:pt x="21161248" y="150622"/>
                  </a:cubicBezTo>
                  <a:lnTo>
                    <a:pt x="21161248" y="564642"/>
                  </a:lnTo>
                  <a:cubicBezTo>
                    <a:pt x="21161248" y="647827"/>
                    <a:pt x="21093812" y="715264"/>
                    <a:pt x="21010626" y="715264"/>
                  </a:cubicBezTo>
                  <a:lnTo>
                    <a:pt x="150622" y="715264"/>
                  </a:lnTo>
                  <a:cubicBezTo>
                    <a:pt x="67437" y="715264"/>
                    <a:pt x="0" y="647827"/>
                    <a:pt x="0" y="564642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1600" y="8970264"/>
            <a:ext cx="15224760" cy="246888"/>
            <a:chOff x="0" y="0"/>
            <a:chExt cx="20299680" cy="3291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299680" cy="329184"/>
            </a:xfrm>
            <a:custGeom>
              <a:avLst/>
              <a:gdLst/>
              <a:ahLst/>
              <a:cxnLst/>
              <a:rect r="r" b="b" t="t" l="l"/>
              <a:pathLst>
                <a:path h="329184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1577" r="0" b="-115157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02996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focus: robust recognition • measurable evaluation • practical usability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2358807" y="7246996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9552432" y="6155922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9552432" y="6723783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9552432" y="7387800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9552432" y="7966434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427988" y="6155922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7"/>
                </a:lnTo>
                <a:lnTo>
                  <a:pt x="0" y="3877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413036" y="6780023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427988" y="7387800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427988" y="7994554"/>
            <a:ext cx="372845" cy="387797"/>
          </a:xfrm>
          <a:custGeom>
            <a:avLst/>
            <a:gdLst/>
            <a:ahLst/>
            <a:cxnLst/>
            <a:rect r="r" b="b" t="t" l="l"/>
            <a:pathLst>
              <a:path h="387797" w="372845">
                <a:moveTo>
                  <a:pt x="0" y="0"/>
                </a:moveTo>
                <a:lnTo>
                  <a:pt x="372845" y="0"/>
                </a:lnTo>
                <a:lnTo>
                  <a:pt x="372845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01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427988" y="5499004"/>
            <a:ext cx="3600650" cy="380693"/>
            <a:chOff x="0" y="0"/>
            <a:chExt cx="4800867" cy="50759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00867" cy="507590"/>
            </a:xfrm>
            <a:custGeom>
              <a:avLst/>
              <a:gdLst/>
              <a:ahLst/>
              <a:cxnLst/>
              <a:rect r="r" b="b" t="t" l="l"/>
              <a:pathLst>
                <a:path h="507590" w="4800867">
                  <a:moveTo>
                    <a:pt x="0" y="0"/>
                  </a:moveTo>
                  <a:lnTo>
                    <a:pt x="4800867" y="0"/>
                  </a:lnTo>
                  <a:lnTo>
                    <a:pt x="4800867" y="507590"/>
                  </a:lnTo>
                  <a:lnTo>
                    <a:pt x="0" y="507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019" r="16195" b="-8687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4800867" cy="507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 spc="223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CHALLENGES :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DAHUsA8cMNE</dc:identifier>
  <dcterms:modified xsi:type="dcterms:W3CDTF">2011-08-01T06:04:30Z</dcterms:modified>
  <cp:revision>1</cp:revision>
  <dc:title>AI_Handwritten_Text_Recognition_Second_Project_Review_FINAL_Audited_FINAL.pptx</dc:title>
</cp:coreProperties>
</file>